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9"/>
  </p:notesMasterIdLst>
  <p:sldIdLst>
    <p:sldId id="283" r:id="rId2"/>
    <p:sldId id="257" r:id="rId3"/>
    <p:sldId id="282" r:id="rId4"/>
    <p:sldId id="285" r:id="rId5"/>
    <p:sldId id="290" r:id="rId6"/>
    <p:sldId id="278" r:id="rId7"/>
    <p:sldId id="262" r:id="rId8"/>
    <p:sldId id="264" r:id="rId9"/>
    <p:sldId id="277" r:id="rId10"/>
    <p:sldId id="286" r:id="rId11"/>
    <p:sldId id="291" r:id="rId12"/>
    <p:sldId id="292" r:id="rId13"/>
    <p:sldId id="287" r:id="rId14"/>
    <p:sldId id="280" r:id="rId15"/>
    <p:sldId id="288" r:id="rId16"/>
    <p:sldId id="289" r:id="rId17"/>
    <p:sldId id="276" r:id="rId1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01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hamidipati Satwika" userId="6bf3478182c057dd" providerId="LiveId" clId="{94557FD5-1A6B-4829-9A35-6955E26D4C30}"/>
    <pc:docChg chg="addSld modSld">
      <pc:chgData name="Bhamidipati Satwika" userId="6bf3478182c057dd" providerId="LiveId" clId="{94557FD5-1A6B-4829-9A35-6955E26D4C30}" dt="2026-09-11T14:38:53.049" v="43" actId="1076"/>
      <pc:docMkLst>
        <pc:docMk/>
      </pc:docMkLst>
      <pc:sldChg chg="addSp modSp new mod">
        <pc:chgData name="Bhamidipati Satwika" userId="6bf3478182c057dd" providerId="LiveId" clId="{94557FD5-1A6B-4829-9A35-6955E26D4C30}" dt="2026-09-11T14:37:09.254" v="28" actId="14100"/>
        <pc:sldMkLst>
          <pc:docMk/>
          <pc:sldMk cId="1587540405" sldId="291"/>
        </pc:sldMkLst>
        <pc:picChg chg="add mod">
          <ac:chgData name="Bhamidipati Satwika" userId="6bf3478182c057dd" providerId="LiveId" clId="{94557FD5-1A6B-4829-9A35-6955E26D4C30}" dt="2026-09-11T14:35:31.386" v="4" actId="14100"/>
          <ac:picMkLst>
            <pc:docMk/>
            <pc:sldMk cId="1587540405" sldId="291"/>
            <ac:picMk id="3" creationId="{C5D018AA-EBDE-C3A5-E891-2BD43D217500}"/>
          </ac:picMkLst>
        </pc:picChg>
        <pc:picChg chg="add mod">
          <ac:chgData name="Bhamidipati Satwika" userId="6bf3478182c057dd" providerId="LiveId" clId="{94557FD5-1A6B-4829-9A35-6955E26D4C30}" dt="2026-09-11T14:36:00.215" v="7" actId="1076"/>
          <ac:picMkLst>
            <pc:docMk/>
            <pc:sldMk cId="1587540405" sldId="291"/>
            <ac:picMk id="5" creationId="{5FF59139-34B3-FB69-459D-5838DF56D7AD}"/>
          </ac:picMkLst>
        </pc:picChg>
        <pc:picChg chg="add mod">
          <ac:chgData name="Bhamidipati Satwika" userId="6bf3478182c057dd" providerId="LiveId" clId="{94557FD5-1A6B-4829-9A35-6955E26D4C30}" dt="2026-09-11T14:36:24.151" v="14" actId="14100"/>
          <ac:picMkLst>
            <pc:docMk/>
            <pc:sldMk cId="1587540405" sldId="291"/>
            <ac:picMk id="7" creationId="{94E6072E-703E-71E7-454F-C63ED37EA804}"/>
          </ac:picMkLst>
        </pc:picChg>
        <pc:picChg chg="add mod">
          <ac:chgData name="Bhamidipati Satwika" userId="6bf3478182c057dd" providerId="LiveId" clId="{94557FD5-1A6B-4829-9A35-6955E26D4C30}" dt="2026-09-11T14:37:09.254" v="28" actId="14100"/>
          <ac:picMkLst>
            <pc:docMk/>
            <pc:sldMk cId="1587540405" sldId="291"/>
            <ac:picMk id="9" creationId="{24A0D83E-1B6D-119A-E25E-C909B75751B1}"/>
          </ac:picMkLst>
        </pc:picChg>
      </pc:sldChg>
      <pc:sldChg chg="addSp modSp new mod">
        <pc:chgData name="Bhamidipati Satwika" userId="6bf3478182c057dd" providerId="LiveId" clId="{94557FD5-1A6B-4829-9A35-6955E26D4C30}" dt="2026-09-11T14:38:53.049" v="43" actId="1076"/>
        <pc:sldMkLst>
          <pc:docMk/>
          <pc:sldMk cId="3526925298" sldId="292"/>
        </pc:sldMkLst>
        <pc:picChg chg="add mod">
          <ac:chgData name="Bhamidipati Satwika" userId="6bf3478182c057dd" providerId="LiveId" clId="{94557FD5-1A6B-4829-9A35-6955E26D4C30}" dt="2026-09-11T14:37:46.635" v="32" actId="1076"/>
          <ac:picMkLst>
            <pc:docMk/>
            <pc:sldMk cId="3526925298" sldId="292"/>
            <ac:picMk id="3" creationId="{9711FC7C-28A7-EA09-3647-D645F1BC190C}"/>
          </ac:picMkLst>
        </pc:picChg>
        <pc:picChg chg="add mod">
          <ac:chgData name="Bhamidipati Satwika" userId="6bf3478182c057dd" providerId="LiveId" clId="{94557FD5-1A6B-4829-9A35-6955E26D4C30}" dt="2026-09-11T14:38:53.049" v="43" actId="1076"/>
          <ac:picMkLst>
            <pc:docMk/>
            <pc:sldMk cId="3526925298" sldId="292"/>
            <ac:picMk id="5" creationId="{3CB46DB9-F93B-190D-DA1C-EEFA8089F9D7}"/>
          </ac:picMkLst>
        </pc:picChg>
        <pc:picChg chg="add mod">
          <ac:chgData name="Bhamidipati Satwika" userId="6bf3478182c057dd" providerId="LiveId" clId="{94557FD5-1A6B-4829-9A35-6955E26D4C30}" dt="2026-09-11T14:38:25.192" v="38" actId="1076"/>
          <ac:picMkLst>
            <pc:docMk/>
            <pc:sldMk cId="3526925298" sldId="292"/>
            <ac:picMk id="7" creationId="{B48E10AE-E644-4A7F-E43D-B3E21F377164}"/>
          </ac:picMkLst>
        </pc:picChg>
        <pc:picChg chg="add mod">
          <ac:chgData name="Bhamidipati Satwika" userId="6bf3478182c057dd" providerId="LiveId" clId="{94557FD5-1A6B-4829-9A35-6955E26D4C30}" dt="2026-09-11T14:38:50.132" v="41" actId="1076"/>
          <ac:picMkLst>
            <pc:docMk/>
            <pc:sldMk cId="3526925298" sldId="292"/>
            <ac:picMk id="9" creationId="{08F64B78-CFDE-FEB4-246B-FDB9F8E587C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wii24/ChronicCareAI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/>
              <a:t>IBM University Engagement Project Submission</a:t>
            </a:r>
            <a:br>
              <a:rPr lang="en-US" b="1"/>
            </a:b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/>
              <a:t>“Exploring the Power of Agentic AI with IBM Granite and </a:t>
            </a:r>
            <a:r>
              <a:rPr lang="en-US" b="1" i="1" err="1"/>
              <a:t>LangFlow</a:t>
            </a:r>
            <a:r>
              <a:rPr lang="en-US" b="1" i="1"/>
              <a:t>”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505810005"/>
              </p:ext>
            </p:extLst>
          </p:nvPr>
        </p:nvGraphicFramePr>
        <p:xfrm>
          <a:off x="1299257" y="2073252"/>
          <a:ext cx="9488082" cy="2942300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853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75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75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675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3213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Student Name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Recent Passport Photo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094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Bhamidipati Satwika</a:t>
                      </a: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satwika.xb.22@gmail.com</a:t>
                      </a: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8179352004</a:t>
                      </a: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</a:t>
            </a:r>
            <a:r>
              <a:rPr lang="en-US" sz="2400" b="1" dirty="0">
                <a:highlight>
                  <a:srgbClr val="FFFF00"/>
                </a:highlight>
              </a:rPr>
              <a:t>[ Healthcare]</a:t>
            </a:r>
            <a:endParaRPr lang="en-IN" sz="2400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Tile – </a:t>
            </a:r>
            <a:r>
              <a:rPr lang="en-US" sz="2400" b="1" dirty="0">
                <a:highlight>
                  <a:srgbClr val="FFFF00"/>
                </a:highlight>
              </a:rPr>
              <a:t>[</a:t>
            </a:r>
            <a:r>
              <a:rPr lang="en-US" sz="2400" b="1" dirty="0">
                <a:solidFill>
                  <a:srgbClr val="002060"/>
                </a:solidFill>
                <a:highlight>
                  <a:srgbClr val="FFFF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Chronic Care AI Agent</a:t>
            </a:r>
            <a:r>
              <a:rPr lang="en-US" sz="2400" b="1" dirty="0">
                <a:highlight>
                  <a:srgbClr val="FFFF00"/>
                </a:highlight>
              </a:rPr>
              <a:t>]</a:t>
            </a:r>
            <a:endParaRPr lang="en-IN" sz="2400" b="1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54689D-B138-3F7E-7477-00224023D1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9736" y="3490416"/>
            <a:ext cx="1009935" cy="135634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35301" y="703614"/>
            <a:ext cx="10607040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sz="2400" b="1" dirty="0"/>
              <a:t>Problem Statement : Chronic Care AI Agent</a:t>
            </a:r>
            <a:endParaRPr lang="en-US" sz="2800" b="1" dirty="0"/>
          </a:p>
          <a:p>
            <a:r>
              <a:rPr lang="en-IN" sz="2800" b="1" dirty="0"/>
              <a:t>The Challenge</a:t>
            </a:r>
            <a:endParaRPr lang="en-IN" sz="28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Chronic diseases require continuous monitoring.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Patients may miss important changes in health readings.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Manual monitoring is time-consuming.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Medication non-adherence can increase health risks.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Patients and healthcare providers need timely insights</a:t>
            </a:r>
            <a:r>
              <a:rPr lang="en-IN" dirty="0"/>
              <a:t>.</a:t>
            </a:r>
          </a:p>
          <a:p>
            <a:pPr fontAlgn="base"/>
            <a:r>
              <a:rPr lang="en-US" sz="2800" b="1" dirty="0"/>
              <a:t>The Objective</a:t>
            </a:r>
            <a:r>
              <a:rPr lang="en-US" sz="2800" dirty="0"/>
              <a:t>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Over </a:t>
            </a:r>
            <a:r>
              <a:rPr lang="en-IN" sz="2000" b="1" dirty="0"/>
              <a:t>500 million people</a:t>
            </a:r>
            <a:r>
              <a:rPr lang="en-IN" sz="2000" dirty="0"/>
              <a:t> worldwide live with diabetes alone. Hypertension and heart disease add hundreds of millions more. Chronic conditions demand </a:t>
            </a:r>
            <a:r>
              <a:rPr lang="en-IN" sz="2000" b="1" dirty="0"/>
              <a:t>continuous vigilance</a:t>
            </a:r>
            <a:r>
              <a:rPr lang="en-IN" sz="2000" dirty="0"/>
              <a:t> — yet healthcare systems are episodic by design.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Patients receive care only during scheduled visits — critical warning signs go undetected in between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Manual self-monitoring is inconsistent, error-prone, and rarely reaches providers in time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Providers lack real-time visibility into patient trends, leading to reactive rather than proactive care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The patient–provider communication gap results in delayed interventions and avoidable complications</a:t>
            </a:r>
          </a:p>
          <a:p>
            <a:pPr fontAlgn="base"/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480538" y="342422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Problem Statement -</a:t>
            </a:r>
            <a:endParaRPr lang="en-IN" sz="2400" b="1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684490"/>
            <a:ext cx="10607040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Continuously </a:t>
            </a:r>
            <a:r>
              <a:rPr lang="en-IN" sz="2000" dirty="0" err="1"/>
              <a:t>analyzes</a:t>
            </a:r>
            <a:r>
              <a:rPr lang="en-IN" sz="2000" dirty="0"/>
              <a:t> patient health data.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Detects abnormal readings and health trends.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Generates personalized health insights.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Provides medication adherence reminders.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Sends alerts to providers for high-risk cases.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Supports </a:t>
            </a:r>
            <a:r>
              <a:rPr lang="en-IN" sz="2000" b="1" dirty="0"/>
              <a:t>Diabetes, Hypertension and Heart Conditions</a:t>
            </a:r>
            <a:r>
              <a:rPr lang="en-IN" sz="2000" dirty="0"/>
              <a:t>.</a:t>
            </a:r>
            <a:endParaRPr lang="en-US" sz="2000" dirty="0"/>
          </a:p>
          <a:p>
            <a:r>
              <a:rPr lang="en-IN" sz="2000" b="1" dirty="0"/>
              <a:t>⚠ Delayed Detection</a:t>
            </a:r>
          </a:p>
          <a:p>
            <a:r>
              <a:rPr lang="en-IN" sz="2000" dirty="0"/>
              <a:t>Warning signs missed between clinic visits</a:t>
            </a:r>
          </a:p>
          <a:p>
            <a:r>
              <a:rPr lang="en-IN" sz="2000" b="1" dirty="0"/>
              <a:t>📋 Data Fragmentation</a:t>
            </a:r>
          </a:p>
          <a:p>
            <a:r>
              <a:rPr lang="en-IN" sz="2000" dirty="0"/>
              <a:t>Wearable, lab, and patient data live in silos</a:t>
            </a:r>
          </a:p>
          <a:p>
            <a:r>
              <a:rPr lang="en-IN" sz="2000" b="1" dirty="0"/>
              <a:t>🔔 No Proactive Alerts</a:t>
            </a:r>
          </a:p>
          <a:p>
            <a:r>
              <a:rPr lang="en-IN" sz="2000" dirty="0"/>
              <a:t>Providers alerted only after crises occur</a:t>
            </a:r>
          </a:p>
          <a:p>
            <a:r>
              <a:rPr lang="en-IN" sz="2000" b="1" dirty="0"/>
              <a:t>🌐 Access Gap</a:t>
            </a:r>
          </a:p>
          <a:p>
            <a:r>
              <a:rPr lang="en-IN" sz="2000" dirty="0"/>
              <a:t>Personalised monitoring is a privilege, not a standard</a:t>
            </a:r>
          </a:p>
          <a:p>
            <a:r>
              <a:rPr lang="en-IN" sz="2000" b="1" dirty="0"/>
              <a:t>Proposed Solution &amp; Objectives</a:t>
            </a:r>
          </a:p>
          <a:p>
            <a:r>
              <a:rPr lang="en-IN" sz="2000" dirty="0" err="1"/>
              <a:t>ChronicCare</a:t>
            </a:r>
            <a:r>
              <a:rPr lang="en-IN" sz="2000" dirty="0"/>
              <a:t> AI acts as a </a:t>
            </a:r>
            <a:r>
              <a:rPr lang="en-IN" sz="2000" b="1" dirty="0"/>
              <a:t>continuous AI monitoring agent</a:t>
            </a:r>
            <a:r>
              <a:rPr lang="en-IN" sz="2000" dirty="0"/>
              <a:t> — analysing patient inputs through deterministic engines and IBM Granite to surface insights, issue alerts, and bridge the patient–provider gap.</a:t>
            </a:r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2468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Proposed Solution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CB07CF-EE80-9CFB-DBD7-32BF9BCD1D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7950" y="610975"/>
            <a:ext cx="10515600" cy="4351338"/>
          </a:xfrm>
        </p:spPr>
        <p:txBody>
          <a:bodyPr>
            <a:normAutofit fontScale="62500" lnSpcReduction="20000"/>
          </a:bodyPr>
          <a:lstStyle/>
          <a:p>
            <a:r>
              <a:rPr lang="en-IN" b="1" dirty="0">
                <a:latin typeface="+mn-lt"/>
              </a:rPr>
              <a:t>Continuous Monitoring</a:t>
            </a:r>
          </a:p>
          <a:p>
            <a:r>
              <a:rPr lang="en-IN" dirty="0">
                <a:latin typeface="+mn-lt"/>
              </a:rPr>
              <a:t>Analyse glucose, blood pressure, heart rate, and sleep data from wearable and manual inputs in near real-time</a:t>
            </a:r>
          </a:p>
          <a:p>
            <a:r>
              <a:rPr lang="en-IN" b="1" dirty="0">
                <a:latin typeface="+mn-lt"/>
              </a:rPr>
              <a:t>Early Warning Detection</a:t>
            </a:r>
          </a:p>
          <a:p>
            <a:r>
              <a:rPr lang="en-IN" dirty="0">
                <a:latin typeface="+mn-lt"/>
              </a:rPr>
              <a:t>Deterministic risk engine flags Low / Moderate / High / Critical demo risk levels using illustrative thresholds</a:t>
            </a:r>
          </a:p>
          <a:p>
            <a:r>
              <a:rPr lang="en-IN" b="1" dirty="0">
                <a:latin typeface="+mn-lt"/>
              </a:rPr>
              <a:t>Granite AI Summaries</a:t>
            </a:r>
          </a:p>
          <a:p>
            <a:r>
              <a:rPr lang="en-IN" dirty="0">
                <a:latin typeface="+mn-lt"/>
              </a:rPr>
              <a:t>IBM Granite explains results in patient-friendly language, highlights trends, and offers lifestyle suggestions</a:t>
            </a:r>
          </a:p>
          <a:p>
            <a:r>
              <a:rPr lang="en-IN" b="1" dirty="0">
                <a:latin typeface="+mn-lt"/>
              </a:rPr>
              <a:t>Dual Dashboards &amp; Alerts</a:t>
            </a:r>
          </a:p>
          <a:p>
            <a:r>
              <a:rPr lang="en-IN" dirty="0">
                <a:latin typeface="+mn-lt"/>
              </a:rPr>
              <a:t>Separate patient and provider dashboards; automated High/Critical alerts sent to providers proactively</a:t>
            </a:r>
          </a:p>
          <a:p>
            <a:r>
              <a:rPr lang="en-IN" dirty="0" err="1">
                <a:latin typeface="+mn-lt"/>
              </a:rPr>
              <a:t>ChronicCare</a:t>
            </a:r>
            <a:r>
              <a:rPr lang="en-IN" dirty="0">
                <a:latin typeface="+mn-lt"/>
              </a:rPr>
              <a:t> AI is a </a:t>
            </a:r>
            <a:r>
              <a:rPr lang="en-IN" b="1" dirty="0">
                <a:latin typeface="+mn-lt"/>
              </a:rPr>
              <a:t>monitoring and decision-support prototype</a:t>
            </a:r>
            <a:r>
              <a:rPr lang="en-IN" dirty="0">
                <a:latin typeface="+mn-lt"/>
              </a:rPr>
              <a:t> using synthetic/demo data only. It does not diagnose, prescribe, or replace healthcare professionals.</a:t>
            </a:r>
          </a:p>
          <a:p>
            <a:pPr fontAlgn="base"/>
            <a:endParaRPr lang="en-US" dirty="0"/>
          </a:p>
          <a:p>
            <a:pPr marL="11430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2184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1"/>
              <a:t>Technology Used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2000" b="1" dirty="0"/>
              <a:t>IBM watsonx.ai</a:t>
            </a:r>
            <a:r>
              <a:rPr lang="en-IN" sz="2000" dirty="0"/>
              <a:t> – AI/LLM platform</a:t>
            </a:r>
          </a:p>
          <a:p>
            <a:pPr lvl="0"/>
            <a:r>
              <a:rPr lang="en-IN" sz="2000" b="1" dirty="0"/>
              <a:t>IBM Granite 4-H Small</a:t>
            </a:r>
            <a:r>
              <a:rPr lang="en-IN" sz="2000" dirty="0"/>
              <a:t> – intelligent health summaries</a:t>
            </a:r>
          </a:p>
          <a:p>
            <a:pPr lvl="0"/>
            <a:r>
              <a:rPr lang="en-IN" sz="2000" b="1" dirty="0"/>
              <a:t>Python</a:t>
            </a:r>
            <a:r>
              <a:rPr lang="en-IN" sz="2000" dirty="0"/>
              <a:t> – backend and AI logic</a:t>
            </a:r>
          </a:p>
          <a:p>
            <a:pPr lvl="0"/>
            <a:r>
              <a:rPr lang="en-IN" sz="2000" b="1" dirty="0"/>
              <a:t>Flask</a:t>
            </a:r>
            <a:r>
              <a:rPr lang="en-IN" sz="2000" dirty="0"/>
              <a:t> – web application/API</a:t>
            </a:r>
          </a:p>
          <a:p>
            <a:pPr lvl="0"/>
            <a:r>
              <a:rPr lang="en-IN" sz="2000" b="1" dirty="0"/>
              <a:t>Pandas</a:t>
            </a:r>
            <a:r>
              <a:rPr lang="en-IN" sz="2000" dirty="0"/>
              <a:t> – health-data processing</a:t>
            </a:r>
          </a:p>
          <a:p>
            <a:pPr lvl="0"/>
            <a:r>
              <a:rPr lang="en-IN" sz="2000" b="1" dirty="0"/>
              <a:t>HTML, CSS, JavaScript</a:t>
            </a:r>
            <a:r>
              <a:rPr lang="en-IN" sz="2000" dirty="0"/>
              <a:t> – dashboards</a:t>
            </a:r>
          </a:p>
          <a:p>
            <a:pPr lvl="0"/>
            <a:r>
              <a:rPr lang="en-IN" sz="2000" b="1" dirty="0"/>
              <a:t>Chart.js</a:t>
            </a:r>
            <a:r>
              <a:rPr lang="en-IN" sz="2000" dirty="0"/>
              <a:t> – health trend visualization</a:t>
            </a:r>
          </a:p>
          <a:p>
            <a:pPr lvl="0"/>
            <a:r>
              <a:rPr lang="en-IN" sz="2000" b="1" dirty="0"/>
              <a:t>IBM Bob</a:t>
            </a:r>
            <a:r>
              <a:rPr lang="en-IN" sz="2000" dirty="0"/>
              <a:t> – AI-assisted development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2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</a:t>
            </a:r>
            <a:endParaRPr lang="en-US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93E71-787F-1B87-12F6-9D5F66A8AD5C}"/>
              </a:ext>
            </a:extLst>
          </p:cNvPr>
          <p:cNvSpPr txBox="1"/>
          <p:nvPr/>
        </p:nvSpPr>
        <p:spPr>
          <a:xfrm>
            <a:off x="537590" y="771747"/>
            <a:ext cx="860340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dirty="0"/>
              <a:t>End-to-end flow from patient data entry to personalised insights across both dashboards — powered by a hybrid deterministic + generative AI pipeline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AA855C-1022-1387-9D85-6E2C9DEC31FE}"/>
              </a:ext>
            </a:extLst>
          </p:cNvPr>
          <p:cNvSpPr txBox="1"/>
          <p:nvPr/>
        </p:nvSpPr>
        <p:spPr>
          <a:xfrm>
            <a:off x="625642" y="1743475"/>
            <a:ext cx="8515349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Architecture Flow</a:t>
            </a:r>
          </a:p>
          <a:p>
            <a:pPr>
              <a:buNone/>
            </a:pPr>
            <a:endParaRPr lang="en-IN" sz="2000" dirty="0"/>
          </a:p>
          <a:p>
            <a:pPr>
              <a:buNone/>
            </a:pPr>
            <a:r>
              <a:rPr lang="en-IN" sz="2000" b="1" dirty="0"/>
              <a:t>Patient / Wearable Data</a:t>
            </a:r>
            <a:br>
              <a:rPr lang="en-IN" sz="2000" dirty="0"/>
            </a:br>
            <a:r>
              <a:rPr lang="en-IN" sz="2000" dirty="0"/>
              <a:t>↓</a:t>
            </a:r>
            <a:br>
              <a:rPr lang="en-IN" sz="2000" dirty="0"/>
            </a:br>
            <a:r>
              <a:rPr lang="en-IN" sz="2000" b="1" dirty="0"/>
              <a:t>Data Processing</a:t>
            </a:r>
            <a:br>
              <a:rPr lang="en-IN" sz="2000" dirty="0"/>
            </a:br>
            <a:r>
              <a:rPr lang="en-IN" sz="2000" dirty="0"/>
              <a:t>↓</a:t>
            </a:r>
            <a:br>
              <a:rPr lang="en-IN" sz="2000" dirty="0"/>
            </a:br>
            <a:r>
              <a:rPr lang="en-IN" sz="2000" b="1" dirty="0"/>
              <a:t>Risk Engine + Trend Engine</a:t>
            </a:r>
            <a:br>
              <a:rPr lang="en-IN" sz="2000" dirty="0"/>
            </a:br>
            <a:r>
              <a:rPr lang="en-IN" sz="2000" dirty="0"/>
              <a:t>↓</a:t>
            </a:r>
            <a:br>
              <a:rPr lang="en-IN" sz="2000" dirty="0"/>
            </a:br>
            <a:r>
              <a:rPr lang="en-IN" sz="2000" b="1" dirty="0"/>
              <a:t>IBM Granite 4-H Small</a:t>
            </a:r>
            <a:br>
              <a:rPr lang="en-IN" sz="2000" dirty="0"/>
            </a:br>
            <a:r>
              <a:rPr lang="en-IN" sz="2000" dirty="0"/>
              <a:t>↓</a:t>
            </a:r>
            <a:br>
              <a:rPr lang="en-IN" sz="2000" dirty="0"/>
            </a:br>
            <a:r>
              <a:rPr lang="en-IN" sz="2000" b="1" dirty="0"/>
              <a:t>Personalized Health Insights</a:t>
            </a:r>
            <a:br>
              <a:rPr lang="en-IN" sz="2000" dirty="0"/>
            </a:br>
            <a:r>
              <a:rPr lang="en-IN" sz="2000" dirty="0"/>
              <a:t>↓</a:t>
            </a:r>
            <a:br>
              <a:rPr lang="en-IN" sz="2000" dirty="0"/>
            </a:br>
            <a:r>
              <a:rPr lang="en-IN" sz="2000" b="1" dirty="0"/>
              <a:t>Patient Dashboard + Provider Dashboard</a:t>
            </a:r>
            <a:br>
              <a:rPr lang="en-IN" sz="2000" dirty="0"/>
            </a:br>
            <a:r>
              <a:rPr lang="en-IN" sz="2000" dirty="0"/>
              <a:t>↓</a:t>
            </a:r>
            <a:br>
              <a:rPr lang="en-IN" sz="2000" dirty="0"/>
            </a:br>
            <a:r>
              <a:rPr lang="en-IN" sz="2000" b="1" dirty="0"/>
              <a:t>Alerts &amp; Notifications</a:t>
            </a:r>
            <a:endParaRPr lang="en-IN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/>
              <a:t>Role of Agentic AI in the solution </a:t>
            </a:r>
            <a:endParaRPr lang="en-IN" sz="32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Role of Agentic AI in Nutrition Agent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The AI agent uses specialized functions/tools: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 err="1"/>
              <a:t>calculate_risk</a:t>
            </a:r>
            <a:r>
              <a:rPr lang="en-IN" sz="2000" dirty="0"/>
              <a:t>() – evaluates current readings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 err="1"/>
              <a:t>get_patient_history</a:t>
            </a:r>
            <a:r>
              <a:rPr lang="en-IN" sz="2000" dirty="0"/>
              <a:t>() – retrieves historical data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 err="1"/>
              <a:t>detect_trends</a:t>
            </a:r>
            <a:r>
              <a:rPr lang="en-IN" sz="2000" dirty="0"/>
              <a:t>() – identifies increasing/decreasing trends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 err="1"/>
              <a:t>generate_health_summary</a:t>
            </a:r>
            <a:r>
              <a:rPr lang="en-IN" sz="2000" dirty="0"/>
              <a:t>() – creates personalized insights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 err="1"/>
              <a:t>create_provider_alert</a:t>
            </a:r>
            <a:r>
              <a:rPr lang="en-IN" sz="2000" dirty="0"/>
              <a:t>() – generates alerts for high-risk cases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This makes the system </a:t>
            </a:r>
            <a:r>
              <a:rPr lang="en-IN" sz="2000" b="1" dirty="0"/>
              <a:t>proactive rather than just a chatbot</a:t>
            </a:r>
            <a:r>
              <a:rPr lang="en-IN" dirty="0"/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793192" y="3415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Token Usage 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4423EF4-BB52-2693-03DD-9F7D92D05218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F042814-8077-DBD5-E8B6-E0D870CADB8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6A2761AF-8A54-98F2-52C2-794D9BA61C9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D576A0-BF64-32B6-1E59-49AA2C59C5CE}"/>
              </a:ext>
            </a:extLst>
          </p:cNvPr>
          <p:cNvSpPr txBox="1"/>
          <p:nvPr/>
        </p:nvSpPr>
        <p:spPr>
          <a:xfrm>
            <a:off x="897392" y="1042133"/>
            <a:ext cx="43711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24.38 token are used</a:t>
            </a:r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E29AF1D-88C4-87E5-74DF-4E97121E0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40" y="2453592"/>
            <a:ext cx="5095875" cy="28575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B8E599E-5B1D-59CD-4F1D-CEF8D0CA327B}"/>
              </a:ext>
            </a:extLst>
          </p:cNvPr>
          <p:cNvSpPr txBox="1"/>
          <p:nvPr/>
        </p:nvSpPr>
        <p:spPr>
          <a:xfrm>
            <a:off x="1278639" y="1718067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u="sng"/>
              <a:t>Before Prompt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2EA981-5113-2D05-C1A2-169306E1D47C}"/>
              </a:ext>
            </a:extLst>
          </p:cNvPr>
          <p:cNvSpPr txBox="1"/>
          <p:nvPr/>
        </p:nvSpPr>
        <p:spPr>
          <a:xfrm>
            <a:off x="7106828" y="1722919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u="sng"/>
              <a:t>After the Prompt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9BB643-7C50-9596-1905-6063950782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4876" y="2453592"/>
            <a:ext cx="5616998" cy="3420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484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Novelty and Uniqueness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1301984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/>
              <a:t>The proposed Nutrition Agent stands out by combining </a:t>
            </a:r>
            <a:r>
              <a:rPr lang="en-IN" sz="2000" b="1" dirty="0"/>
              <a:t>Agentic AI, RAG, and personalization</a:t>
            </a:r>
            <a:r>
              <a:rPr lang="en-IN" sz="2000" dirty="0"/>
              <a:t> into a single intelligent system.</a:t>
            </a:r>
          </a:p>
          <a:p>
            <a:endParaRPr lang="en-IN" sz="1800" dirty="0"/>
          </a:p>
          <a:p>
            <a:r>
              <a:rPr lang="en-IN" sz="2800" b="1" dirty="0"/>
              <a:t>What Makes </a:t>
            </a:r>
            <a:r>
              <a:rPr lang="en-IN" sz="2800" b="1" dirty="0" err="1"/>
              <a:t>ChronicCare</a:t>
            </a:r>
            <a:r>
              <a:rPr lang="en-IN" sz="2800" b="1" dirty="0"/>
              <a:t> AI Unique?</a:t>
            </a:r>
            <a:endParaRPr lang="en-IN" sz="28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Combines </a:t>
            </a:r>
            <a:r>
              <a:rPr lang="en-IN" sz="2000" b="1" dirty="0"/>
              <a:t>Agentic AI + deterministic risk analysis</a:t>
            </a:r>
            <a:endParaRPr lang="en-IN"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Uses </a:t>
            </a:r>
            <a:r>
              <a:rPr lang="en-IN" sz="2000" b="1" dirty="0"/>
              <a:t>IBM Granite</a:t>
            </a:r>
            <a:r>
              <a:rPr lang="en-IN" sz="2000" dirty="0"/>
              <a:t> for personalized explanations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Historical trend-based monitoring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Patient + provider dashboards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Automated provider alerts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Medication adherence support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Uses synthetic/demo data for safe testing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Does not diagnose, prescribe, or change medication</a:t>
            </a:r>
            <a:endParaRPr lang="en-IN" sz="20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D018AA-EBDE-C3A5-E891-2BD43D2175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63" y="149557"/>
            <a:ext cx="5776643" cy="36104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F59139-34B3-FB69-459D-5838DF56D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006" y="149557"/>
            <a:ext cx="5776643" cy="36104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E6072E-703E-71E7-454F-C63ED37EA8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364" y="3759960"/>
            <a:ext cx="5776642" cy="30323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A0D83E-1B6D-119A-E25E-C909B75751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5005" y="3783842"/>
            <a:ext cx="5776642" cy="3013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5404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11FC7C-28A7-EA09-3647-D645F1BC1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52" y="122830"/>
            <a:ext cx="4869522" cy="30434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B46DB9-F93B-190D-DA1C-EEFA8089F9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9397" y="122829"/>
            <a:ext cx="4869522" cy="30434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48E10AE-E644-4A7F-E43D-B3E21F377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752" y="3429000"/>
            <a:ext cx="5202072" cy="325129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8F64B78-CFDE-FEB4-246B-FDB9F8E587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3642" y="3272619"/>
            <a:ext cx="5702490" cy="356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9252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Git Hub Link</a:t>
            </a:r>
            <a:endParaRPr sz="2400" b="1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436728" y="1153712"/>
            <a:ext cx="9996576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test and Paste the working 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URL:https://github.com/Satwii24/ChronicCareAI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228982D-BF81-530A-CBA1-E897A3CA8EF7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05851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800" b="1" dirty="0">
                <a:sym typeface="Times New Roman"/>
              </a:rPr>
              <a:t>Future Scope </a:t>
            </a:r>
            <a:endParaRPr sz="28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Real wearable integration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Real-time health monitoring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Mobile application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Multilingual voice assistant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Integration with electronic medical records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More advanced predictive analytics</a:t>
            </a: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/>
              <a:t>Certificates Earned:</a:t>
            </a:r>
          </a:p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37D5EE-379B-FDC5-0854-8AC81D31FADF}"/>
              </a:ext>
            </a:extLst>
          </p:cNvPr>
          <p:cNvSpPr txBox="1"/>
          <p:nvPr/>
        </p:nvSpPr>
        <p:spPr>
          <a:xfrm>
            <a:off x="552048" y="690061"/>
            <a:ext cx="638996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/>
              <a:t>Please  add your credly certificate 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E7687E-2AB2-1493-27DF-C2D57DDE3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717" y="1302912"/>
            <a:ext cx="6858264" cy="534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0476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/>
          </a:p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D36B1A-26C2-CD55-1032-4CB5E4EDF305}"/>
              </a:ext>
            </a:extLst>
          </p:cNvPr>
          <p:cNvSpPr txBox="1"/>
          <p:nvPr/>
        </p:nvSpPr>
        <p:spPr>
          <a:xfrm>
            <a:off x="496843" y="800470"/>
            <a:ext cx="543768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/>
              <a:t>Add your IBM BOB Certificate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55AA0D-5661-53B3-B722-3135B657C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0832" y="1947851"/>
            <a:ext cx="8930075" cy="4224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6107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788</Words>
  <Application>Microsoft Office PowerPoint</Application>
  <PresentationFormat>Widescreen</PresentationFormat>
  <Paragraphs>113</Paragraphs>
  <Slides>17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Bhamidipati Satwika</cp:lastModifiedBy>
  <cp:revision>12</cp:revision>
  <dcterms:created xsi:type="dcterms:W3CDTF">2025-07-08T05:06:56Z</dcterms:created>
  <dcterms:modified xsi:type="dcterms:W3CDTF">2026-09-11T14:40:51Z</dcterms:modified>
</cp:coreProperties>
</file>