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83" r:id="rId2"/>
    <p:sldId id="257" r:id="rId3"/>
    <p:sldId id="282" r:id="rId4"/>
    <p:sldId id="285" r:id="rId5"/>
    <p:sldId id="290" r:id="rId6"/>
    <p:sldId id="278" r:id="rId7"/>
    <p:sldId id="262" r:id="rId8"/>
    <p:sldId id="264" r:id="rId9"/>
    <p:sldId id="277" r:id="rId10"/>
    <p:sldId id="286" r:id="rId11"/>
    <p:sldId id="287" r:id="rId12"/>
    <p:sldId id="280" r:id="rId13"/>
    <p:sldId id="288" r:id="rId14"/>
    <p:sldId id="289" r:id="rId15"/>
    <p:sldId id="27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  <p1510:client id="{A6B9108B-7598-1D50-C4AA-8A38026DAEEF}" v="18" dt="2026-06-19T06:56:18.840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twii24/ChronicCareAI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505810005"/>
              </p:ext>
            </p:extLst>
          </p:nvPr>
        </p:nvGraphicFramePr>
        <p:xfrm>
          <a:off x="1299257" y="2073252"/>
          <a:ext cx="9488082" cy="2942300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85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7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7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7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2135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094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Bhamidipati Satwika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satwika.xb.22@gmail.com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8179352004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Healthcare]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Chronic Care AI Agent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4689D-B138-3F7E-7477-00224023D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736" y="3490416"/>
            <a:ext cx="1009935" cy="13563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35301" y="703614"/>
            <a:ext cx="1060704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b="1" dirty="0"/>
              <a:t>Problem Statement : Chronic Care AI Agent</a:t>
            </a:r>
            <a:endParaRPr lang="en-US" sz="2800" b="1" dirty="0"/>
          </a:p>
          <a:p>
            <a:r>
              <a:rPr lang="en-IN" sz="2800" b="1" dirty="0"/>
              <a:t>The Challenge</a:t>
            </a:r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Chronic diseases require continuous monitoring.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Patients may miss important changes in health readings.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Manual monitoring is time-consuming.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Medication non-adherence can increase health risks.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Patients and healthcare providers need timely insights</a:t>
            </a:r>
            <a:r>
              <a:rPr lang="en-IN" dirty="0"/>
              <a:t>.</a:t>
            </a:r>
          </a:p>
          <a:p>
            <a:pPr fontAlgn="base"/>
            <a:r>
              <a:rPr lang="en-US" sz="2800" b="1" dirty="0"/>
              <a:t>The Objective</a:t>
            </a:r>
            <a:r>
              <a:rPr lang="en-US" sz="2800" dirty="0"/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Over </a:t>
            </a:r>
            <a:r>
              <a:rPr lang="en-IN" sz="2000" b="1" dirty="0"/>
              <a:t>500 million people</a:t>
            </a:r>
            <a:r>
              <a:rPr lang="en-IN" sz="2000" dirty="0"/>
              <a:t> worldwide live with diabetes alone. Hypertension and heart disease add hundreds of millions more. Chronic conditions demand </a:t>
            </a:r>
            <a:r>
              <a:rPr lang="en-IN" sz="2000" b="1" dirty="0"/>
              <a:t>continuous vigilance</a:t>
            </a:r>
            <a:r>
              <a:rPr lang="en-IN" sz="2000" dirty="0"/>
              <a:t> — yet healthcare systems are episodic by design.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Patients receive care only during scheduled visits — critical warning signs go undetected in between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Manual self-monitoring is inconsistent, error-prone, and rarely reaches providers in time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Providers lack real-time visibility into patient trends, leading to reactive rather than proactive care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The patient–provider communication gap results in delayed interventions and avoidable complications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480538" y="342422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684490"/>
            <a:ext cx="1060704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Continuously </a:t>
            </a:r>
            <a:r>
              <a:rPr lang="en-IN" sz="2000" dirty="0" err="1"/>
              <a:t>analyzes</a:t>
            </a:r>
            <a:r>
              <a:rPr lang="en-IN" sz="2000" dirty="0"/>
              <a:t> patient health 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Detects abnormal readings and health trends.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Generates personalized health insights.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Provides medication adherence reminders.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Sends alerts to providers for high-risk cases.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Supports </a:t>
            </a:r>
            <a:r>
              <a:rPr lang="en-IN" sz="2000" b="1" dirty="0"/>
              <a:t>Diabetes, Hypertension and Heart Conditions</a:t>
            </a:r>
            <a:r>
              <a:rPr lang="en-IN" sz="2000" dirty="0"/>
              <a:t>.</a:t>
            </a:r>
            <a:endParaRPr lang="en-US" sz="2000" dirty="0"/>
          </a:p>
          <a:p>
            <a:r>
              <a:rPr lang="en-IN" sz="2000" b="1" dirty="0"/>
              <a:t>⚠ Delayed Detection</a:t>
            </a:r>
          </a:p>
          <a:p>
            <a:r>
              <a:rPr lang="en-IN" sz="2000" dirty="0"/>
              <a:t>Warning signs missed between clinic visits</a:t>
            </a:r>
          </a:p>
          <a:p>
            <a:r>
              <a:rPr lang="en-IN" sz="2000" b="1" dirty="0"/>
              <a:t>📋 Data Fragmentation</a:t>
            </a:r>
          </a:p>
          <a:p>
            <a:r>
              <a:rPr lang="en-IN" sz="2000" dirty="0"/>
              <a:t>Wearable, lab, and patient data live in silos</a:t>
            </a:r>
          </a:p>
          <a:p>
            <a:r>
              <a:rPr lang="en-IN" sz="2000" b="1" dirty="0"/>
              <a:t>🔔 No Proactive Alerts</a:t>
            </a:r>
          </a:p>
          <a:p>
            <a:r>
              <a:rPr lang="en-IN" sz="2000" dirty="0"/>
              <a:t>Providers alerted only after crises occur</a:t>
            </a:r>
          </a:p>
          <a:p>
            <a:r>
              <a:rPr lang="en-IN" sz="2000" b="1" dirty="0"/>
              <a:t>🌐 Access Gap</a:t>
            </a:r>
          </a:p>
          <a:p>
            <a:r>
              <a:rPr lang="en-IN" sz="2000" dirty="0"/>
              <a:t>Personalised monitoring is a privilege, not a standard</a:t>
            </a:r>
          </a:p>
          <a:p>
            <a:r>
              <a:rPr lang="en-IN" sz="2000" b="1" dirty="0"/>
              <a:t>Proposed Solution &amp; Objectives</a:t>
            </a:r>
          </a:p>
          <a:p>
            <a:r>
              <a:rPr lang="en-IN" sz="2000" dirty="0" err="1"/>
              <a:t>ChronicCare</a:t>
            </a:r>
            <a:r>
              <a:rPr lang="en-IN" sz="2000" dirty="0"/>
              <a:t> AI acts as a </a:t>
            </a:r>
            <a:r>
              <a:rPr lang="en-IN" sz="2000" b="1" dirty="0"/>
              <a:t>continuous AI monitoring agent</a:t>
            </a:r>
            <a:r>
              <a:rPr lang="en-IN" sz="2000" dirty="0"/>
              <a:t> — analysing patient inputs through deterministic engines and IBM Granite to surface insights, issue alerts, and bridge the patient–provider gap.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2468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B07CF-EE80-9CFB-DBD7-32BF9BCD1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950" y="610975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>
                <a:latin typeface="+mn-lt"/>
              </a:rPr>
              <a:t>Continuous Monitoring</a:t>
            </a:r>
          </a:p>
          <a:p>
            <a:r>
              <a:rPr lang="en-IN" dirty="0">
                <a:latin typeface="+mn-lt"/>
              </a:rPr>
              <a:t>Analyse glucose, blood pressure, heart rate, and sleep data from wearable and manual inputs in near real-time</a:t>
            </a:r>
          </a:p>
          <a:p>
            <a:r>
              <a:rPr lang="en-IN" b="1" dirty="0">
                <a:latin typeface="+mn-lt"/>
              </a:rPr>
              <a:t>Early Warning Detection</a:t>
            </a:r>
          </a:p>
          <a:p>
            <a:r>
              <a:rPr lang="en-IN" dirty="0">
                <a:latin typeface="+mn-lt"/>
              </a:rPr>
              <a:t>Deterministic risk engine flags Low / Moderate / High / Critical demo risk levels using illustrative thresholds</a:t>
            </a:r>
          </a:p>
          <a:p>
            <a:r>
              <a:rPr lang="en-IN" b="1" dirty="0">
                <a:latin typeface="+mn-lt"/>
              </a:rPr>
              <a:t>Granite AI Summaries</a:t>
            </a:r>
          </a:p>
          <a:p>
            <a:r>
              <a:rPr lang="en-IN" dirty="0">
                <a:latin typeface="+mn-lt"/>
              </a:rPr>
              <a:t>IBM Granite explains results in patient-friendly language, highlights trends, and offers lifestyle suggestions</a:t>
            </a:r>
          </a:p>
          <a:p>
            <a:r>
              <a:rPr lang="en-IN" b="1" dirty="0">
                <a:latin typeface="+mn-lt"/>
              </a:rPr>
              <a:t>Dual Dashboards &amp; Alerts</a:t>
            </a:r>
          </a:p>
          <a:p>
            <a:r>
              <a:rPr lang="en-IN" dirty="0">
                <a:latin typeface="+mn-lt"/>
              </a:rPr>
              <a:t>Separate patient and provider dashboards; automated High/Critical alerts sent to providers proactively</a:t>
            </a:r>
          </a:p>
          <a:p>
            <a:r>
              <a:rPr lang="en-IN" dirty="0" err="1">
                <a:latin typeface="+mn-lt"/>
              </a:rPr>
              <a:t>ChronicCare</a:t>
            </a:r>
            <a:r>
              <a:rPr lang="en-IN" dirty="0">
                <a:latin typeface="+mn-lt"/>
              </a:rPr>
              <a:t> AI is a </a:t>
            </a:r>
            <a:r>
              <a:rPr lang="en-IN" b="1" dirty="0">
                <a:latin typeface="+mn-lt"/>
              </a:rPr>
              <a:t>monitoring and decision-support prototype</a:t>
            </a:r>
            <a:r>
              <a:rPr lang="en-IN" dirty="0">
                <a:latin typeface="+mn-lt"/>
              </a:rPr>
              <a:t> using synthetic/demo data only. It does not diagnose, prescribe, or replace healthcare professionals.</a:t>
            </a:r>
          </a:p>
          <a:p>
            <a:pPr fontAlgn="base"/>
            <a:endParaRPr lang="en-US" dirty="0"/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2184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/>
              <a:t>IBM watsonx.ai</a:t>
            </a:r>
            <a:r>
              <a:rPr lang="en-IN" sz="2000" dirty="0"/>
              <a:t> – AI/LLM platform</a:t>
            </a:r>
          </a:p>
          <a:p>
            <a:pPr lvl="0"/>
            <a:r>
              <a:rPr lang="en-IN" sz="2000" b="1" dirty="0"/>
              <a:t>IBM Granite 4-H Small</a:t>
            </a:r>
            <a:r>
              <a:rPr lang="en-IN" sz="2000" dirty="0"/>
              <a:t> – intelligent health summaries</a:t>
            </a:r>
          </a:p>
          <a:p>
            <a:pPr lvl="0"/>
            <a:r>
              <a:rPr lang="en-IN" sz="2000" b="1" dirty="0"/>
              <a:t>Python</a:t>
            </a:r>
            <a:r>
              <a:rPr lang="en-IN" sz="2000" dirty="0"/>
              <a:t> – backend and AI logic</a:t>
            </a:r>
          </a:p>
          <a:p>
            <a:pPr lvl="0"/>
            <a:r>
              <a:rPr lang="en-IN" sz="2000" b="1" dirty="0"/>
              <a:t>Flask</a:t>
            </a:r>
            <a:r>
              <a:rPr lang="en-IN" sz="2000" dirty="0"/>
              <a:t> – web application/API</a:t>
            </a:r>
          </a:p>
          <a:p>
            <a:pPr lvl="0"/>
            <a:r>
              <a:rPr lang="en-IN" sz="2000" b="1" dirty="0"/>
              <a:t>Pandas</a:t>
            </a:r>
            <a:r>
              <a:rPr lang="en-IN" sz="2000" dirty="0"/>
              <a:t> – health-data processing</a:t>
            </a:r>
          </a:p>
          <a:p>
            <a:pPr lvl="0"/>
            <a:r>
              <a:rPr lang="en-IN" sz="2000" b="1" dirty="0"/>
              <a:t>HTML, CSS, JavaScript</a:t>
            </a:r>
            <a:r>
              <a:rPr lang="en-IN" sz="2000" dirty="0"/>
              <a:t> – dashboards</a:t>
            </a:r>
          </a:p>
          <a:p>
            <a:pPr lvl="0"/>
            <a:r>
              <a:rPr lang="en-IN" sz="2000" b="1" dirty="0"/>
              <a:t>Chart.js</a:t>
            </a:r>
            <a:r>
              <a:rPr lang="en-IN" sz="2000" dirty="0"/>
              <a:t> – health trend visualization</a:t>
            </a:r>
          </a:p>
          <a:p>
            <a:pPr lvl="0"/>
            <a:r>
              <a:rPr lang="en-IN" sz="2000" b="1" dirty="0"/>
              <a:t>IBM Bob</a:t>
            </a:r>
            <a:r>
              <a:rPr lang="en-IN" sz="2000" dirty="0"/>
              <a:t> – AI-assisted development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93E71-787F-1B87-12F6-9D5F66A8AD5C}"/>
              </a:ext>
            </a:extLst>
          </p:cNvPr>
          <p:cNvSpPr txBox="1"/>
          <p:nvPr/>
        </p:nvSpPr>
        <p:spPr>
          <a:xfrm>
            <a:off x="537590" y="771747"/>
            <a:ext cx="86034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/>
              <a:t>End-to-end flow from patient data entry to personalised insights across both dashboards — powered by a hybrid deterministic + generative AI pipeline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A855C-1022-1387-9D85-6E2C9DEC31FE}"/>
              </a:ext>
            </a:extLst>
          </p:cNvPr>
          <p:cNvSpPr txBox="1"/>
          <p:nvPr/>
        </p:nvSpPr>
        <p:spPr>
          <a:xfrm>
            <a:off x="625642" y="1743475"/>
            <a:ext cx="851534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Architecture Flow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Patient / Wearable Data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Data Processing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Risk Engine + Trend Engine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IBM Granite 4-H Small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Personalized Health Insights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Patient Dashboard + Provider Dashboard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Alerts &amp; Notifications</a:t>
            </a:r>
            <a:endParaRPr lang="en-IN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Role of Agentic AI in Nutrition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The AI agent uses specialized functions/tools: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calculate_risk</a:t>
            </a:r>
            <a:r>
              <a:rPr lang="en-IN" sz="2000" dirty="0"/>
              <a:t>() – evaluates current readings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get_patient_history</a:t>
            </a:r>
            <a:r>
              <a:rPr lang="en-IN" sz="2000" dirty="0"/>
              <a:t>() – retrieves historical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detect_trends</a:t>
            </a:r>
            <a:r>
              <a:rPr lang="en-IN" sz="2000" dirty="0"/>
              <a:t>() – identifies increasing/decreasing trends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generate_health_summary</a:t>
            </a:r>
            <a:r>
              <a:rPr lang="en-IN" sz="2000" dirty="0"/>
              <a:t>() – creates personalized insights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create_provider_alert</a:t>
            </a:r>
            <a:r>
              <a:rPr lang="en-IN" sz="2000" dirty="0"/>
              <a:t>() – generates alerts for high-risk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This makes the system </a:t>
            </a:r>
            <a:r>
              <a:rPr lang="en-IN" sz="2000" b="1" dirty="0"/>
              <a:t>proactive rather than just a chatbot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24.38 token are used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29AF1D-88C4-87E5-74DF-4E97121E0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0" y="2453592"/>
            <a:ext cx="5095875" cy="2857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BB643-7C50-9596-1905-606395078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876" y="2453592"/>
            <a:ext cx="5616998" cy="342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proposed Nutrition Agent stands out by combining </a:t>
            </a:r>
            <a:r>
              <a:rPr lang="en-IN" sz="2000" b="1" dirty="0"/>
              <a:t>Agentic AI, RAG, and personalization</a:t>
            </a:r>
            <a:r>
              <a:rPr lang="en-IN" sz="2000" dirty="0"/>
              <a:t> into a single intelligent system.</a:t>
            </a:r>
          </a:p>
          <a:p>
            <a:endParaRPr lang="en-IN" sz="1800" dirty="0"/>
          </a:p>
          <a:p>
            <a:r>
              <a:rPr lang="en-IN" sz="2800" b="1" dirty="0"/>
              <a:t>What Makes </a:t>
            </a:r>
            <a:r>
              <a:rPr lang="en-IN" sz="2800" b="1" dirty="0" err="1"/>
              <a:t>ChronicCare</a:t>
            </a:r>
            <a:r>
              <a:rPr lang="en-IN" sz="2800" b="1" dirty="0"/>
              <a:t> AI Unique?</a:t>
            </a:r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Combines </a:t>
            </a:r>
            <a:r>
              <a:rPr lang="en-IN" sz="2000" b="1" dirty="0"/>
              <a:t>Agentic AI + deterministic risk analysis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Uses </a:t>
            </a:r>
            <a:r>
              <a:rPr lang="en-IN" sz="2000" b="1" dirty="0"/>
              <a:t>IBM Granite</a:t>
            </a:r>
            <a:r>
              <a:rPr lang="en-IN" sz="2000" dirty="0"/>
              <a:t> for personalized explanations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Historical trend-based monitoring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Patient + provider dashboards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Automated provider alerts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Medication adherence support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Uses synthetic/demo data for safe testing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Does not diagnose, prescribe, or change medication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436728" y="1153712"/>
            <a:ext cx="9996576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URL:https://github.com/Satwii24/ChronicCareAI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Real wearable integration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Real-time health monitoring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Mobile application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Multilingual voice assistant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Integration with electronic medical records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More advanced predictive analytics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7687E-2AB2-1493-27DF-C2D57DDE3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717" y="1302912"/>
            <a:ext cx="6858264" cy="534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55AA0D-5661-53B3-B722-3135B657C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32" y="1947851"/>
            <a:ext cx="8930075" cy="422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788</Words>
  <Application>Microsoft Office PowerPoint</Application>
  <PresentationFormat>Widescreen</PresentationFormat>
  <Paragraphs>113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Bhamidipati Satwika</cp:lastModifiedBy>
  <cp:revision>12</cp:revision>
  <dcterms:created xsi:type="dcterms:W3CDTF">2025-07-08T05:06:56Z</dcterms:created>
  <dcterms:modified xsi:type="dcterms:W3CDTF">2026-09-11T14:29:14Z</dcterms:modified>
</cp:coreProperties>
</file>